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EDCD82C-678B-42A1-A046-845D8BF4A2BE}">
  <a:tblStyle styleId="{FEDCD82C-678B-42A1-A046-845D8BF4A2B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a3ae3554d6_2_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" name="Google Shape;38;g3a3ae3554d6_2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a3ae3554d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g3a3ae3554d6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a3ae3554d6_2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g3a3ae3554d6_2_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a3ae3554d6_2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g3a3ae3554d6_2_5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a3ae3554d6_2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g3a3ae3554d6_2_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a3ae3554d6_2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g3a3ae3554d6_2_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a3ae3554d6_2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g3a3ae3554d6_2_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a3ae3554d6_2_7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a3ae3554d6_2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a3ae3554d6_2_7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a3ae3554d6_2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a3ae3554d6_2_8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a3ae3554d6_2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a3ae3554d6_2_8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a3ae3554d6_2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a3ae3554d6_2_10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a3ae3554d6_2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a3ae3554d6_2_10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a3ae3554d6_2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685800" y="1700808"/>
            <a:ext cx="7772400" cy="794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DC0081"/>
              </a:buClr>
              <a:buSzPts val="4000"/>
              <a:buFont typeface="Calibri"/>
              <a:buNone/>
              <a:defRPr b="1" sz="4000" cap="none">
                <a:solidFill>
                  <a:srgbClr val="DC008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683568" y="2495327"/>
            <a:ext cx="7776864" cy="62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80"/>
              </a:spcBef>
              <a:spcAft>
                <a:spcPts val="0"/>
              </a:spcAft>
              <a:buClr>
                <a:srgbClr val="280099"/>
              </a:buClr>
              <a:buSzPts val="3400"/>
              <a:buChar char="•"/>
              <a:defRPr b="1" i="1" sz="3400">
                <a:solidFill>
                  <a:srgbClr val="280099"/>
                </a:solidFill>
              </a:defRPr>
            </a:lvl1pPr>
            <a:lvl2pPr lvl="1" algn="l">
              <a:spcBef>
                <a:spcPts val="360"/>
              </a:spcBef>
              <a:spcAft>
                <a:spcPts val="0"/>
              </a:spcAft>
              <a:buClr>
                <a:srgbClr val="280099"/>
              </a:buClr>
              <a:buSzPts val="1800"/>
              <a:buChar char="–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Clr>
                <a:srgbClr val="280099"/>
              </a:buClr>
              <a:buSzPts val="1800"/>
              <a:buChar char="•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Clr>
                <a:srgbClr val="280099"/>
              </a:buClr>
              <a:buSzPts val="1800"/>
              <a:buChar char="–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Clr>
                <a:srgbClr val="280099"/>
              </a:buClr>
              <a:buSzPts val="1800"/>
              <a:buChar char="»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1921822" y="0"/>
            <a:ext cx="6764977" cy="8227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Calibri"/>
              <a:buNone/>
              <a:defRPr b="1" sz="36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457200" y="976313"/>
            <a:ext cx="8229600" cy="54020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rgbClr val="280099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rgbClr val="280099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rgbClr val="280099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rgbClr val="280099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280099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20" name="Google Shape;20;p3"/>
          <p:cNvCxnSpPr/>
          <p:nvPr/>
        </p:nvCxnSpPr>
        <p:spPr>
          <a:xfrm flipH="1" rot="10800000">
            <a:off x="457200" y="822722"/>
            <a:ext cx="8229600" cy="15783"/>
          </a:xfrm>
          <a:prstGeom prst="straightConnector1">
            <a:avLst/>
          </a:prstGeom>
          <a:noFill/>
          <a:ln cap="flat" cmpd="sng" w="9525">
            <a:solidFill>
              <a:srgbClr val="BD4B4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1" name="Google Shape;21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72670" y="16771"/>
            <a:ext cx="1449153" cy="79017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/>
          <p:nvPr/>
        </p:nvSpPr>
        <p:spPr>
          <a:xfrm>
            <a:off x="444243" y="6496883"/>
            <a:ext cx="874439" cy="361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4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r>
              <a:rPr b="1" i="0" lang="en-US" sz="14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/ 9</a:t>
            </a:r>
            <a:endParaRPr/>
          </a:p>
        </p:txBody>
      </p:sp>
      <p:cxnSp>
        <p:nvCxnSpPr>
          <p:cNvPr id="23" name="Google Shape;23;p3"/>
          <p:cNvCxnSpPr/>
          <p:nvPr/>
        </p:nvCxnSpPr>
        <p:spPr>
          <a:xfrm>
            <a:off x="444243" y="6496883"/>
            <a:ext cx="874439" cy="0"/>
          </a:xfrm>
          <a:prstGeom prst="straightConnector1">
            <a:avLst/>
          </a:prstGeom>
          <a:noFill/>
          <a:ln cap="flat" cmpd="sng" w="9525">
            <a:solidFill>
              <a:srgbClr val="BD4B48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rgbClr val="280099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28009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rgbClr val="280099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rgbClr val="28009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rgbClr val="280099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28009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rgbClr val="280099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rgbClr val="28009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rgbClr val="280099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rgbClr val="28009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://draw.io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/>
          <p:nvPr>
            <p:ph type="ctrTitle"/>
          </p:nvPr>
        </p:nvSpPr>
        <p:spPr>
          <a:xfrm>
            <a:off x="391999" y="2316077"/>
            <a:ext cx="8382000" cy="8271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Calibri"/>
              <a:buNone/>
            </a:pPr>
            <a:r>
              <a:rPr lang="en-US" sz="36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SWP391: FINAL PROJECT PRESENTATION</a:t>
            </a:r>
            <a:endParaRPr/>
          </a:p>
        </p:txBody>
      </p:sp>
      <p:sp>
        <p:nvSpPr>
          <p:cNvPr id="34" name="Google Shape;34;p5"/>
          <p:cNvSpPr txBox="1"/>
          <p:nvPr/>
        </p:nvSpPr>
        <p:spPr>
          <a:xfrm>
            <a:off x="1043607" y="3143248"/>
            <a:ext cx="7056785" cy="1005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000"/>
              <a:buFont typeface="Noto Sans Symbols"/>
              <a:buNone/>
            </a:pPr>
            <a:r>
              <a:rPr b="1" i="1" lang="en-US" sz="30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Top CV Career Connect System</a:t>
            </a:r>
            <a:endParaRPr/>
          </a:p>
        </p:txBody>
      </p:sp>
      <p:pic>
        <p:nvPicPr>
          <p:cNvPr id="35" name="Google Shape;3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31840" y="369158"/>
            <a:ext cx="2512194" cy="13698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/>
          <p:nvPr>
            <p:ph type="ctrTitle"/>
          </p:nvPr>
        </p:nvSpPr>
        <p:spPr>
          <a:xfrm>
            <a:off x="685800" y="8"/>
            <a:ext cx="7772400" cy="794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Table of content</a:t>
            </a:r>
            <a:endParaRPr/>
          </a:p>
        </p:txBody>
      </p:sp>
      <p:sp>
        <p:nvSpPr>
          <p:cNvPr id="41" name="Google Shape;41;p6"/>
          <p:cNvSpPr txBox="1"/>
          <p:nvPr/>
        </p:nvSpPr>
        <p:spPr>
          <a:xfrm>
            <a:off x="166675" y="627600"/>
            <a:ext cx="7899900" cy="56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rgbClr val="280099"/>
              </a:buClr>
              <a:buSzPts val="3200"/>
              <a:buFont typeface="Calibri"/>
              <a:buAutoNum type="arabicPeriod"/>
            </a:pPr>
            <a:r>
              <a:rPr lang="en-US" sz="3200">
                <a:solidFill>
                  <a:srgbClr val="280099"/>
                </a:solidFill>
                <a:latin typeface="Calibri"/>
                <a:ea typeface="Calibri"/>
                <a:cs typeface="Calibri"/>
                <a:sym typeface="Calibri"/>
              </a:rPr>
              <a:t>Project Overview</a:t>
            </a:r>
            <a:endParaRPr sz="3200">
              <a:solidFill>
                <a:srgbClr val="2800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280099"/>
                </a:solidFill>
                <a:latin typeface="Calibri"/>
                <a:ea typeface="Calibri"/>
                <a:cs typeface="Calibri"/>
                <a:sym typeface="Calibri"/>
              </a:rPr>
              <a:t>1.1 Product introduction &amp; Scope</a:t>
            </a:r>
            <a:endParaRPr sz="3200">
              <a:solidFill>
                <a:srgbClr val="2800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280099"/>
                </a:solidFill>
                <a:latin typeface="Calibri"/>
                <a:ea typeface="Calibri"/>
                <a:cs typeface="Calibri"/>
                <a:sym typeface="Calibri"/>
              </a:rPr>
              <a:t>1.2 Team member &amp; mentor</a:t>
            </a:r>
            <a:endParaRPr sz="3200">
              <a:solidFill>
                <a:srgbClr val="2800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280099"/>
                </a:solidFill>
                <a:latin typeface="Calibri"/>
                <a:ea typeface="Calibri"/>
                <a:cs typeface="Calibri"/>
                <a:sym typeface="Calibri"/>
              </a:rPr>
              <a:t>1.3 Project communication</a:t>
            </a:r>
            <a:endParaRPr sz="3200">
              <a:solidFill>
                <a:srgbClr val="2800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rgbClr val="280099"/>
              </a:buClr>
              <a:buSzPts val="3200"/>
              <a:buFont typeface="Calibri"/>
              <a:buAutoNum type="arabicPeriod"/>
            </a:pPr>
            <a:r>
              <a:rPr lang="en-US" sz="3200">
                <a:solidFill>
                  <a:srgbClr val="280099"/>
                </a:solidFill>
                <a:latin typeface="Calibri"/>
                <a:ea typeface="Calibri"/>
                <a:cs typeface="Calibri"/>
                <a:sym typeface="Calibri"/>
              </a:rPr>
              <a:t>Use case diagrams</a:t>
            </a:r>
            <a:endParaRPr sz="3200">
              <a:solidFill>
                <a:srgbClr val="2800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rgbClr val="280099"/>
              </a:buClr>
              <a:buSzPts val="3200"/>
              <a:buFont typeface="Calibri"/>
              <a:buAutoNum type="arabicPeriod"/>
            </a:pPr>
            <a:r>
              <a:rPr lang="en-US" sz="3200">
                <a:solidFill>
                  <a:srgbClr val="280099"/>
                </a:solidFill>
                <a:latin typeface="Calibri"/>
                <a:ea typeface="Calibri"/>
                <a:cs typeface="Calibri"/>
                <a:sym typeface="Calibri"/>
              </a:rPr>
              <a:t>Screen flow</a:t>
            </a:r>
            <a:endParaRPr sz="3200">
              <a:solidFill>
                <a:srgbClr val="2800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rgbClr val="280099"/>
              </a:buClr>
              <a:buSzPts val="3200"/>
              <a:buFont typeface="Calibri"/>
              <a:buAutoNum type="arabicPeriod"/>
            </a:pPr>
            <a:r>
              <a:rPr lang="en-US" sz="3200">
                <a:solidFill>
                  <a:srgbClr val="280099"/>
                </a:solidFill>
                <a:latin typeface="Calibri"/>
                <a:ea typeface="Calibri"/>
                <a:cs typeface="Calibri"/>
                <a:sym typeface="Calibri"/>
              </a:rPr>
              <a:t>Main screen</a:t>
            </a:r>
            <a:endParaRPr sz="3200">
              <a:solidFill>
                <a:srgbClr val="2800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rgbClr val="280099"/>
              </a:buClr>
              <a:buSzPts val="3200"/>
              <a:buFont typeface="Calibri"/>
              <a:buAutoNum type="arabicPeriod"/>
            </a:pPr>
            <a:r>
              <a:rPr lang="en-US" sz="3200">
                <a:solidFill>
                  <a:srgbClr val="280099"/>
                </a:solidFill>
                <a:latin typeface="Calibri"/>
                <a:ea typeface="Calibri"/>
                <a:cs typeface="Calibri"/>
                <a:sym typeface="Calibri"/>
              </a:rPr>
              <a:t>Database design</a:t>
            </a:r>
            <a:endParaRPr sz="3200">
              <a:solidFill>
                <a:srgbClr val="2800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rgbClr val="280099"/>
              </a:buClr>
              <a:buSzPts val="3200"/>
              <a:buFont typeface="Calibri"/>
              <a:buAutoNum type="arabicPeriod"/>
            </a:pPr>
            <a:r>
              <a:rPr lang="en-US" sz="3200">
                <a:solidFill>
                  <a:srgbClr val="280099"/>
                </a:solidFill>
                <a:latin typeface="Calibri"/>
                <a:ea typeface="Calibri"/>
                <a:cs typeface="Calibri"/>
                <a:sym typeface="Calibri"/>
              </a:rPr>
              <a:t>Package diagrams</a:t>
            </a:r>
            <a:endParaRPr sz="3200">
              <a:solidFill>
                <a:srgbClr val="2800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rgbClr val="280099"/>
              </a:buClr>
              <a:buSzPts val="3200"/>
              <a:buFont typeface="Calibri"/>
              <a:buAutoNum type="arabicPeriod"/>
            </a:pPr>
            <a:r>
              <a:rPr lang="en-US" sz="3200">
                <a:solidFill>
                  <a:srgbClr val="280099"/>
                </a:solidFill>
                <a:latin typeface="Calibri"/>
                <a:ea typeface="Calibri"/>
                <a:cs typeface="Calibri"/>
                <a:sym typeface="Calibri"/>
              </a:rPr>
              <a:t>Demonstration</a:t>
            </a:r>
            <a:endParaRPr sz="3200">
              <a:solidFill>
                <a:srgbClr val="2800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rgbClr val="280099"/>
              </a:buClr>
              <a:buSzPts val="3200"/>
              <a:buFont typeface="Calibri"/>
              <a:buAutoNum type="arabicPeriod"/>
            </a:pPr>
            <a:r>
              <a:rPr lang="en-US" sz="3200">
                <a:solidFill>
                  <a:srgbClr val="280099"/>
                </a:solidFill>
                <a:latin typeface="Calibri"/>
                <a:ea typeface="Calibri"/>
                <a:cs typeface="Calibri"/>
                <a:sym typeface="Calibri"/>
              </a:rPr>
              <a:t>Demo &amp; QA</a:t>
            </a:r>
            <a:endParaRPr sz="3200">
              <a:solidFill>
                <a:srgbClr val="2800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1921822" y="0"/>
            <a:ext cx="6764977" cy="8227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Calibri"/>
              <a:buNone/>
            </a:pPr>
            <a:r>
              <a:rPr lang="en-US"/>
              <a:t>Project Overview</a:t>
            </a:r>
            <a:endParaRPr/>
          </a:p>
        </p:txBody>
      </p:sp>
      <p:sp>
        <p:nvSpPr>
          <p:cNvPr id="47" name="Google Shape;47;p7"/>
          <p:cNvSpPr txBox="1"/>
          <p:nvPr>
            <p:ph idx="1" type="body"/>
          </p:nvPr>
        </p:nvSpPr>
        <p:spPr>
          <a:xfrm>
            <a:off x="457200" y="976325"/>
            <a:ext cx="8229600" cy="53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/>
              <a:t>1.1 Product introduction &amp; Scope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TopCV is a job recruitment platform developed as a Java Web Application, using the MVC (Model-View-Controller) architecture with the following technologies: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pPr>
            <a:r>
              <a:rPr lang="en-US" sz="1900">
                <a:solidFill>
                  <a:schemeClr val="dk1"/>
                </a:solidFill>
              </a:rPr>
              <a:t>Backend: Java Servlets, JSP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pPr>
            <a:r>
              <a:rPr lang="en-US" sz="1900">
                <a:solidFill>
                  <a:schemeClr val="dk1"/>
                </a:solidFill>
              </a:rPr>
              <a:t>Database: SQL Server 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pPr>
            <a:r>
              <a:rPr lang="en-US" sz="1900">
                <a:solidFill>
                  <a:schemeClr val="dk1"/>
                </a:solidFill>
              </a:rPr>
              <a:t>Frontend: HTML, CSS, JavaScript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The system includes 3 main user roles: Job Seeker, Recruiter, Admin &amp; Staff</a:t>
            </a:r>
            <a:br>
              <a:rPr lang="en-US" sz="1900">
                <a:solidFill>
                  <a:schemeClr val="dk1"/>
                </a:solidFill>
              </a:rPr>
            </a:br>
            <a:r>
              <a:rPr lang="en-US" sz="1900">
                <a:solidFill>
                  <a:schemeClr val="dk1"/>
                </a:solidFill>
              </a:rPr>
              <a:t>Including features such as: User management, Job search and discovery, Application management, Notification system, Job posting, Candidate management, Service packages, Payment processing, and Admin management functions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/>
          <p:nvPr>
            <p:ph type="title"/>
          </p:nvPr>
        </p:nvSpPr>
        <p:spPr>
          <a:xfrm>
            <a:off x="1921822" y="0"/>
            <a:ext cx="6765000" cy="8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Calibri"/>
              <a:buNone/>
            </a:pPr>
            <a:r>
              <a:rPr lang="en-US"/>
              <a:t>Project Overview</a:t>
            </a:r>
            <a:endParaRPr/>
          </a:p>
        </p:txBody>
      </p:sp>
      <p:sp>
        <p:nvSpPr>
          <p:cNvPr id="53" name="Google Shape;53;p8"/>
          <p:cNvSpPr txBox="1"/>
          <p:nvPr>
            <p:ph idx="1" type="body"/>
          </p:nvPr>
        </p:nvSpPr>
        <p:spPr>
          <a:xfrm>
            <a:off x="457200" y="976313"/>
            <a:ext cx="8229600" cy="54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/>
              <a:t>1.2 Team Member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54" name="Google Shape;54;p8"/>
          <p:cNvGraphicFramePr/>
          <p:nvPr/>
        </p:nvGraphicFramePr>
        <p:xfrm>
          <a:off x="457200" y="2667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{FEDCD82C-678B-42A1-A046-845D8BF4A2BE}</a:tableStyleId>
              </a:tblPr>
              <a:tblGrid>
                <a:gridCol w="3108075"/>
                <a:gridCol w="51215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Category</a:t>
                      </a:r>
                      <a:endParaRPr b="1" sz="2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Brief </a:t>
                      </a:r>
                      <a:r>
                        <a:rPr b="1" lang="en-US" sz="2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Information</a:t>
                      </a:r>
                      <a:endParaRPr b="1" sz="2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6FA8D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Mentor</a:t>
                      </a:r>
                      <a:endParaRPr sz="2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Thầy Nguyễn Thành Ý</a:t>
                      </a:r>
                      <a:endParaRPr sz="2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 row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Project Team Members</a:t>
                      </a:r>
                      <a:endParaRPr sz="2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Nguyễn Thanh Dương</a:t>
                      </a:r>
                      <a:endParaRPr sz="2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Nguyễn Trọng Quang Minh</a:t>
                      </a:r>
                      <a:endParaRPr sz="2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1921822" y="0"/>
            <a:ext cx="6765000" cy="8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Calibri"/>
              <a:buNone/>
            </a:pPr>
            <a:r>
              <a:rPr lang="en-US"/>
              <a:t>Project Overview</a:t>
            </a:r>
            <a:endParaRPr/>
          </a:p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457200" y="976313"/>
            <a:ext cx="8229600" cy="54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/>
              <a:t>1.3 Project communication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Document: Google driver, Google docs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Design : </a:t>
            </a:r>
            <a:r>
              <a:rPr lang="en-US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draw.io</a:t>
            </a:r>
            <a:r>
              <a:rPr lang="en-US">
                <a:solidFill>
                  <a:schemeClr val="dk1"/>
                </a:solidFill>
              </a:rPr>
              <a:t>, Visual Paradigm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Meet: Google meet, Zalo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Source code management: GitHub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/>
          <p:nvPr>
            <p:ph type="title"/>
          </p:nvPr>
        </p:nvSpPr>
        <p:spPr>
          <a:xfrm>
            <a:off x="1921822" y="0"/>
            <a:ext cx="6764977" cy="8227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200"/>
              <a:buFont typeface="Calibri"/>
              <a:buNone/>
            </a:pPr>
            <a:r>
              <a:rPr lang="en-US" sz="3200"/>
              <a:t>Product Requirements</a:t>
            </a:r>
            <a:br>
              <a:rPr lang="en-US" sz="3200"/>
            </a:br>
            <a:r>
              <a:rPr i="1" lang="en-US" sz="2800"/>
              <a:t>Use Case Diagrams</a:t>
            </a:r>
            <a:endParaRPr i="1" sz="3200"/>
          </a:p>
        </p:txBody>
      </p:sp>
      <p:pic>
        <p:nvPicPr>
          <p:cNvPr id="66" name="Google Shape;66;p10" title="guest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13725" y="945347"/>
            <a:ext cx="5443954" cy="57304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1"/>
          <p:cNvSpPr txBox="1"/>
          <p:nvPr>
            <p:ph type="title"/>
          </p:nvPr>
        </p:nvSpPr>
        <p:spPr>
          <a:xfrm>
            <a:off x="1921822" y="0"/>
            <a:ext cx="6765000" cy="8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200"/>
              <a:buFont typeface="Calibri"/>
              <a:buNone/>
            </a:pPr>
            <a:r>
              <a:rPr lang="en-US" sz="3200"/>
              <a:t>Product Requirements</a:t>
            </a:r>
            <a:br>
              <a:rPr lang="en-US" sz="3200"/>
            </a:br>
            <a:r>
              <a:rPr i="1" lang="en-US" sz="2800"/>
              <a:t>Use Case Diagrams</a:t>
            </a:r>
            <a:endParaRPr i="1" sz="3200"/>
          </a:p>
        </p:txBody>
      </p:sp>
      <p:pic>
        <p:nvPicPr>
          <p:cNvPr id="72" name="Google Shape;72;p11" title="JobSeeker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4613" y="915572"/>
            <a:ext cx="5674765" cy="57304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2"/>
          <p:cNvSpPr txBox="1"/>
          <p:nvPr>
            <p:ph type="title"/>
          </p:nvPr>
        </p:nvSpPr>
        <p:spPr>
          <a:xfrm>
            <a:off x="1921822" y="0"/>
            <a:ext cx="6765000" cy="8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200"/>
              <a:buFont typeface="Calibri"/>
              <a:buNone/>
            </a:pPr>
            <a:r>
              <a:rPr lang="en-US" sz="3200"/>
              <a:t>Product Requirements</a:t>
            </a:r>
            <a:br>
              <a:rPr lang="en-US" sz="3200"/>
            </a:br>
            <a:r>
              <a:rPr i="1" lang="en-US" sz="2800"/>
              <a:t>Use Case Diagrams</a:t>
            </a:r>
            <a:endParaRPr i="1" sz="3200"/>
          </a:p>
        </p:txBody>
      </p:sp>
      <p:pic>
        <p:nvPicPr>
          <p:cNvPr id="78" name="Google Shape;78;p12" title="Recruiter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8438" y="822600"/>
            <a:ext cx="5627131" cy="5730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/>
          <p:cNvSpPr txBox="1"/>
          <p:nvPr>
            <p:ph type="title"/>
          </p:nvPr>
        </p:nvSpPr>
        <p:spPr>
          <a:xfrm>
            <a:off x="1921822" y="0"/>
            <a:ext cx="6765000" cy="8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200"/>
              <a:buFont typeface="Calibri"/>
              <a:buNone/>
            </a:pPr>
            <a:r>
              <a:rPr lang="en-US" sz="3200"/>
              <a:t>Product Requirements</a:t>
            </a:r>
            <a:br>
              <a:rPr lang="en-US" sz="3200"/>
            </a:br>
            <a:r>
              <a:rPr i="1" lang="en-US" sz="2800"/>
              <a:t>Use Case Diagrams</a:t>
            </a:r>
            <a:endParaRPr i="1" sz="3200"/>
          </a:p>
        </p:txBody>
      </p:sp>
      <p:pic>
        <p:nvPicPr>
          <p:cNvPr id="84" name="Google Shape;84;p13" title="Admin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8250" y="930350"/>
            <a:ext cx="5347496" cy="573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4"/>
          <p:cNvSpPr txBox="1"/>
          <p:nvPr>
            <p:ph type="title"/>
          </p:nvPr>
        </p:nvSpPr>
        <p:spPr>
          <a:xfrm>
            <a:off x="1921822" y="0"/>
            <a:ext cx="6765000" cy="8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200"/>
              <a:buFont typeface="Calibri"/>
              <a:buNone/>
            </a:pPr>
            <a:r>
              <a:rPr lang="en-US" sz="3200"/>
              <a:t>Product Requirements</a:t>
            </a:r>
            <a:br>
              <a:rPr lang="en-US" sz="3200"/>
            </a:br>
            <a:r>
              <a:rPr i="1" lang="en-US" sz="2800"/>
              <a:t>Use Case Diagrams</a:t>
            </a:r>
            <a:endParaRPr i="1" sz="3200"/>
          </a:p>
        </p:txBody>
      </p:sp>
      <p:pic>
        <p:nvPicPr>
          <p:cNvPr id="90" name="Google Shape;90;p14" title="marketing staff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5300" y="989900"/>
            <a:ext cx="5507123" cy="573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/>
          <p:cNvSpPr txBox="1"/>
          <p:nvPr>
            <p:ph type="title"/>
          </p:nvPr>
        </p:nvSpPr>
        <p:spPr>
          <a:xfrm>
            <a:off x="1921822" y="0"/>
            <a:ext cx="6764977" cy="8227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200"/>
              <a:buFont typeface="Calibri"/>
              <a:buNone/>
            </a:pPr>
            <a:r>
              <a:rPr lang="en-US" sz="3200"/>
              <a:t>Product Requirements</a:t>
            </a:r>
            <a:br>
              <a:rPr lang="en-US" sz="3200"/>
            </a:br>
            <a:r>
              <a:rPr i="1" lang="en-US" sz="2800"/>
              <a:t>Product Functionalities</a:t>
            </a:r>
            <a:endParaRPr i="1" sz="3200"/>
          </a:p>
        </p:txBody>
      </p:sp>
      <p:pic>
        <p:nvPicPr>
          <p:cNvPr id="96" name="Google Shape;96;p15" title="ScreenFlow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17422"/>
            <a:ext cx="8839201" cy="45214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"/>
          <p:cNvSpPr txBox="1"/>
          <p:nvPr>
            <p:ph type="title"/>
          </p:nvPr>
        </p:nvSpPr>
        <p:spPr>
          <a:xfrm>
            <a:off x="1921822" y="0"/>
            <a:ext cx="6765000" cy="822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Home page</a:t>
            </a:r>
            <a:endParaRPr/>
          </a:p>
        </p:txBody>
      </p:sp>
      <p:pic>
        <p:nvPicPr>
          <p:cNvPr id="102" name="Google Shape;10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75000"/>
            <a:ext cx="8839199" cy="41612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/>
          <p:nvPr>
            <p:ph type="title"/>
          </p:nvPr>
        </p:nvSpPr>
        <p:spPr>
          <a:xfrm>
            <a:off x="1921822" y="0"/>
            <a:ext cx="6765000" cy="822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Admin dashboard</a:t>
            </a:r>
            <a:endParaRPr/>
          </a:p>
        </p:txBody>
      </p:sp>
      <p:pic>
        <p:nvPicPr>
          <p:cNvPr id="108" name="Google Shape;10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75000"/>
            <a:ext cx="8839200" cy="41329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8"/>
          <p:cNvSpPr txBox="1"/>
          <p:nvPr>
            <p:ph type="title"/>
          </p:nvPr>
        </p:nvSpPr>
        <p:spPr>
          <a:xfrm>
            <a:off x="1921822" y="0"/>
            <a:ext cx="6765000" cy="822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Recruiter dashboard</a:t>
            </a:r>
            <a:endParaRPr/>
          </a:p>
        </p:txBody>
      </p:sp>
      <p:pic>
        <p:nvPicPr>
          <p:cNvPr id="114" name="Google Shape;11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75000"/>
            <a:ext cx="8839200" cy="41019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9"/>
          <p:cNvSpPr txBox="1"/>
          <p:nvPr>
            <p:ph type="title"/>
          </p:nvPr>
        </p:nvSpPr>
        <p:spPr>
          <a:xfrm>
            <a:off x="1921822" y="0"/>
            <a:ext cx="6765000" cy="822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Marketing staff dashboard</a:t>
            </a:r>
            <a:endParaRPr/>
          </a:p>
        </p:txBody>
      </p:sp>
      <p:pic>
        <p:nvPicPr>
          <p:cNvPr id="120" name="Google Shape;12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75000"/>
            <a:ext cx="8839200" cy="4111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0"/>
          <p:cNvSpPr txBox="1"/>
          <p:nvPr>
            <p:ph type="title"/>
          </p:nvPr>
        </p:nvSpPr>
        <p:spPr>
          <a:xfrm>
            <a:off x="1921822" y="0"/>
            <a:ext cx="6764977" cy="8227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ct val="100000"/>
              <a:buFont typeface="Calibri"/>
              <a:buNone/>
            </a:pPr>
            <a:r>
              <a:rPr lang="en-US"/>
              <a:t>System Design</a:t>
            </a:r>
            <a:br>
              <a:rPr lang="en-US"/>
            </a:br>
            <a:r>
              <a:rPr i="1" lang="en-US" sz="3100"/>
              <a:t>Database Design</a:t>
            </a:r>
            <a:endParaRPr i="1"/>
          </a:p>
        </p:txBody>
      </p:sp>
      <p:sp>
        <p:nvSpPr>
          <p:cNvPr id="126" name="Google Shape;126;p20"/>
          <p:cNvSpPr txBox="1"/>
          <p:nvPr>
            <p:ph idx="1" type="body"/>
          </p:nvPr>
        </p:nvSpPr>
        <p:spPr>
          <a:xfrm>
            <a:off x="457200" y="976313"/>
            <a:ext cx="8229600" cy="54020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7" name="Google Shape;12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976325"/>
            <a:ext cx="8229600" cy="540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1"/>
          <p:cNvSpPr txBox="1"/>
          <p:nvPr>
            <p:ph type="title"/>
          </p:nvPr>
        </p:nvSpPr>
        <p:spPr>
          <a:xfrm>
            <a:off x="1921822" y="0"/>
            <a:ext cx="6764977" cy="8227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ct val="100000"/>
              <a:buFont typeface="Calibri"/>
              <a:buNone/>
            </a:pPr>
            <a:r>
              <a:rPr lang="en-US"/>
              <a:t>System Design</a:t>
            </a:r>
            <a:br>
              <a:rPr lang="en-US"/>
            </a:br>
            <a:r>
              <a:rPr i="1" lang="en-US" sz="3100"/>
              <a:t>Package Diagram</a:t>
            </a:r>
            <a:endParaRPr i="1"/>
          </a:p>
        </p:txBody>
      </p:sp>
      <p:sp>
        <p:nvSpPr>
          <p:cNvPr id="133" name="Google Shape;133;p21"/>
          <p:cNvSpPr txBox="1"/>
          <p:nvPr>
            <p:ph idx="1" type="body"/>
          </p:nvPr>
        </p:nvSpPr>
        <p:spPr>
          <a:xfrm>
            <a:off x="457200" y="976313"/>
            <a:ext cx="8229600" cy="54020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4" name="Google Shape;13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976325"/>
            <a:ext cx="8229600" cy="5402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2"/>
          <p:cNvSpPr txBox="1"/>
          <p:nvPr>
            <p:ph type="title"/>
          </p:nvPr>
        </p:nvSpPr>
        <p:spPr>
          <a:xfrm>
            <a:off x="1921822" y="0"/>
            <a:ext cx="6764977" cy="8227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Calibri"/>
              <a:buNone/>
            </a:pPr>
            <a:r>
              <a:rPr lang="en-US"/>
              <a:t>Demonstration</a:t>
            </a:r>
            <a:endParaRPr i="1"/>
          </a:p>
        </p:txBody>
      </p:sp>
      <p:pic>
        <p:nvPicPr>
          <p:cNvPr id="140" name="Google Shape;140;p22" title="Swimlane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75122"/>
            <a:ext cx="8839199" cy="48691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3"/>
          <p:cNvSpPr txBox="1"/>
          <p:nvPr/>
        </p:nvSpPr>
        <p:spPr>
          <a:xfrm>
            <a:off x="457200" y="976313"/>
            <a:ext cx="8229600" cy="540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3429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2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Demo Project</a:t>
            </a:r>
            <a:endParaRPr sz="7200">
              <a:solidFill>
                <a:srgbClr val="2800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 result for Q&amp;A" id="150" name="Google Shape;15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39752" y="1340768"/>
            <a:ext cx="5107285" cy="3296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5"/>
          <p:cNvSpPr txBox="1"/>
          <p:nvPr/>
        </p:nvSpPr>
        <p:spPr>
          <a:xfrm>
            <a:off x="0" y="75"/>
            <a:ext cx="9144000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280099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sz="6000">
              <a:solidFill>
                <a:srgbClr val="2800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ession 02_Integration Management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